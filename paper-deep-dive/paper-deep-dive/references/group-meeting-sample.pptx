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69" r:id="rId18"/>
    <p:sldId id="270" r:id="rId19"/>
    <p:sldId id="272" r:id="rId20"/>
    <p:sldId id="273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Relationship Id="rId25" Type="http://schemas.openxmlformats.org/officeDocument/2006/relationships/tags" Target="tags/tag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4313555" y="5099050"/>
            <a:ext cx="3359150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NSDI’26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5635" y="1173480"/>
            <a:ext cx="10883265" cy="13220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FENIX: Enabling In-Network DNN Inference with</a:t>
            </a:r>
            <a:b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FPGA-Enhanced Programmable Switches</a:t>
            </a:r>
            <a:endParaRPr lang="en-US" altLang="zh-C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89810" y="3486150"/>
            <a:ext cx="7419975" cy="141986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fontAlgn="auto">
              <a:lnSpc>
                <a:spcPct val="120000"/>
              </a:lnSpc>
            </a:pP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1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Tsinghua University</a:t>
            </a:r>
            <a:endParaRPr lang="en-US" altLang="zh-CN" b="1" i="1">
              <a:solidFill>
                <a:srgbClr val="000000"/>
              </a:solidFill>
              <a:latin typeface="Times New Roman" panose="02020603050405020304" pitchFamily="18" charset="0"/>
              <a:ea typeface="NimbusRomNo9L-Regu"/>
              <a:cs typeface="Times New Roman" panose="02020603050405020304" pitchFamily="18" charset="0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2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Renmin University of China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 </a:t>
            </a:r>
            <a:endParaRPr lang="en-US" altLang="zh-CN" b="1" i="1">
              <a:solidFill>
                <a:srgbClr val="000000"/>
              </a:solidFill>
              <a:latin typeface="Times New Roman" panose="02020603050405020304" pitchFamily="18" charset="0"/>
              <a:ea typeface="NimbusRomNo9L-Regu"/>
              <a:cs typeface="Times New Roman" panose="02020603050405020304" pitchFamily="18" charset="0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3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Southeast University 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NimbusRomNo9L-Regu"/>
              <a:cs typeface="Times New Roman" panose="02020603050405020304" pitchFamily="18" charset="0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4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Huazhong University of Science and Technology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NimbusRomNo9L-Regu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8785" y="2850515"/>
            <a:ext cx="11429365" cy="41084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fontAlgn="auto">
              <a:lnSpc>
                <a:spcPct val="130000"/>
              </a:lnSpc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Xiangyu Gao</a:t>
            </a:r>
            <a:r>
              <a:rPr lang="en-US" altLang="zh-CN" sz="1600" baseline="300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1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, Tong Li</a:t>
            </a:r>
            <a:r>
              <a:rPr lang="en-US" altLang="zh-CN" sz="1600" baseline="300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2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, Yinchao Zhang</a:t>
            </a:r>
            <a:r>
              <a:rPr lang="en-US" altLang="zh-CN" sz="1600" baseline="300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1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, Ziqiang Wang</a:t>
            </a:r>
            <a:r>
              <a:rPr lang="en-US" altLang="zh-CN" sz="1600" baseline="300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3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, Xiangsheng Zeng</a:t>
            </a:r>
            <a:r>
              <a:rPr lang="en-US" altLang="zh-CN" sz="1600" baseline="300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4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, Su Yao</a:t>
            </a:r>
            <a:r>
              <a:rPr lang="en-US" altLang="zh-CN" sz="1600" baseline="300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1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, Ke Xu</a:t>
            </a:r>
            <a:r>
              <a:rPr lang="en-US" altLang="zh-CN" sz="1600" baseline="300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1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NimbusRomNo9L-Regu"/>
                <a:cs typeface="Times New Roman" panose="02020603050405020304" pitchFamily="18" charset="0"/>
              </a:rPr>
              <a:t> </a:t>
            </a:r>
            <a:endParaRPr lang="en-US" altLang="zh-CN" sz="1600">
              <a:solidFill>
                <a:srgbClr val="000000"/>
              </a:solidFill>
              <a:latin typeface="Times New Roman" panose="02020603050405020304" pitchFamily="18" charset="0"/>
              <a:ea typeface="NimbusRomNo9L-Regu"/>
              <a:cs typeface="Times New Roman" panose="02020603050405020304" pitchFamily="18" charset="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164592"/>
            <a:ext cx="2176272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kern="0" dirty="0">
                <a:solidFill>
                  <a:srgbClr val="8E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Background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不同平台的网内推理时延、吞吐情况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56267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基于控制面的在网推理: </a:t>
            </a:r>
            <a:r>
              <a:rPr lang="zh-CN" altLang="en-US" sz="20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FlowLens(</a:t>
            </a:r>
            <a:r>
              <a:rPr lang="en-US" altLang="zh-CN" sz="20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NDSS</a:t>
            </a:r>
            <a:r>
              <a:rPr lang="en-US" altLang="zh-CN" sz="2000" b="1" i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’21</a:t>
            </a:r>
            <a:r>
              <a:rPr lang="zh-CN" altLang="en-US" sz="20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等</a:t>
            </a:r>
            <a:endParaRPr lang="zh-CN" altLang="en-US" sz="4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控制面灵活性强；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(2)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资源较为充足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控制面、数据面交互时延长：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ms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级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500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基于智能网卡的在网推理：</a:t>
            </a:r>
            <a:r>
              <a:rPr lang="en-US" altLang="zh-CN" sz="2000" b="1" i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N3IC(NSDI’22)</a:t>
            </a:r>
            <a:r>
              <a:rPr lang="zh-CN" altLang="en-US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等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端侧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CPU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卸载到智能网卡，减少时延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N3IC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只有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40Gbps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，最新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NIC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也只有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400Gbps &lt;&lt; Switch ASIC 4-12Tbps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500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基于可编程数据面的在网推理：</a:t>
            </a:r>
            <a:r>
              <a:rPr lang="en-US" altLang="zh-CN" sz="2000" b="1" i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NetBeacon(Security’23)</a:t>
            </a:r>
            <a:r>
              <a:rPr lang="zh-CN" altLang="en-US" sz="2000" b="1" i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lang="en-US" altLang="zh-CN" sz="2000" b="1" i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BoS(NSDI’24)</a:t>
            </a:r>
            <a:r>
              <a:rPr lang="zh-CN" altLang="en-US" sz="2000" b="1" i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lang="en-US" altLang="zh-CN" sz="2000" b="1" i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Leo(NSDI’24)</a:t>
            </a:r>
            <a:r>
              <a:rPr lang="zh-CN" altLang="en-US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等</a:t>
            </a:r>
            <a:endParaRPr lang="zh-CN" altLang="en-US" sz="2000" b="1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吞吐高，可以达到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Tbps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级；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(2)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处理时延短，只需要纳秒级的处理时延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计算资源受限；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(2)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存储资源受限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775" y="980440"/>
            <a:ext cx="5379085" cy="27457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Motivations &amp; Challenges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FPGA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网内推理优势、挑战及目标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FPGA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网内推理优势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可部署模型大小以及计算能力显著强于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Tofino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可编程交换机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平台可编程灵活性更强，支持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Vitis HLS(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硬件支持的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C++) -&gt; Verilog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映射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FPGA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Tofino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可编程交换机协同推理挑战及动机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现有的可编程交换机支持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Tbps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吞吐，而最新的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FPGA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设备只有数百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Gbps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无法时刻将交换机流量卸载到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FPGA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设备上做推理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FENIX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执行目标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低时延：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FPGA+ASIC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协同推理实现微秒级时延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高吞吐：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ASICs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线速处理流量、提取特征，并基于采样的方式在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ASIC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FPGA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之间通信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高精度：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FPGA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上采用固定点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(INT8)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量化，精度接近离线模型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Overview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6105" y="894080"/>
            <a:ext cx="1029906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Flow Tracker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跟踪每流状态及推理结果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RateLimiter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采用令牌桶算法控制每流发送特征速率，避免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FPGA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被大量数据淹没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Buffer Manager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使用环形缓冲结构保存前几个数据包的特征信息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Vector I/O Processor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Data/Model Engine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数据交互，缓存特征向量和流标识符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DNN Inference Module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执行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DNN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深度神经网络推理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65" y="4028440"/>
            <a:ext cx="5682615" cy="17614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250" y="4049395"/>
            <a:ext cx="5113655" cy="17399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60425" y="5939155"/>
            <a:ext cx="5041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Tofino ASIC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Data Engine for feature extraction 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68465" y="5939155"/>
            <a:ext cx="435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FPGA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Model Engine for DNN Inference 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Data Engine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FlowTracker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6105" y="894080"/>
            <a:ext cx="10299065" cy="21348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组件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FlowTracker 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(</a:t>
            </a:r>
            <a:r>
              <a:rPr lang="zh-CN" altLang="en-US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跟踪网络状态流、每流推理决策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)</a:t>
            </a:r>
            <a:endParaRPr lang="en-US" altLang="zh-CN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hash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五元组哈希值，作为流键的唯一索引值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bklog_n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bklog_t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跟踪特征发送间隔内的数据包数和持续时间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class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记录从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Model Engine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中传来的流推理结果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buff_idx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记录环形缓冲结构中的流位置索引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b="9618"/>
          <a:stretch>
            <a:fillRect/>
          </a:stretch>
        </p:blipFill>
        <p:spPr>
          <a:xfrm>
            <a:off x="1595120" y="3428365"/>
            <a:ext cx="4640580" cy="32632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b="20822"/>
          <a:stretch>
            <a:fillRect/>
          </a:stretch>
        </p:blipFill>
        <p:spPr>
          <a:xfrm>
            <a:off x="7213600" y="3387725"/>
            <a:ext cx="2847340" cy="15798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850" y="5166360"/>
            <a:ext cx="2660650" cy="15252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Data Engine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Rate Limiter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6105" y="894080"/>
            <a:ext cx="11043920" cy="21348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组件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Rate Limiter 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(</a:t>
            </a:r>
            <a:r>
              <a:rPr lang="zh-CN" altLang="en-US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控制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ASIC-FPGA</a:t>
            </a:r>
            <a:r>
              <a:rPr lang="zh-CN" altLang="en-US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交互，避免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FPGA</a:t>
            </a:r>
            <a:r>
              <a:rPr lang="zh-CN" altLang="en-US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过载的同时保证流的公平性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)</a:t>
            </a:r>
            <a:endParaRPr lang="en-US" altLang="zh-CN" sz="2000" b="1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P(T</a:t>
            </a:r>
            <a:r>
              <a:rPr lang="en-US" altLang="zh-CN" sz="2000" baseline="-25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i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, C</a:t>
            </a:r>
            <a:r>
              <a:rPr lang="en-US" altLang="zh-CN" sz="2000" baseline="-25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i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)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为推理概率，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T</a:t>
            </a:r>
            <a:r>
              <a:rPr lang="en-US" altLang="zh-CN" sz="2000" baseline="-25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i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为距离流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i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上次特征传输间隔时间，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C</a:t>
            </a:r>
            <a:r>
              <a:rPr lang="en-US" altLang="zh-CN" sz="2000" baseline="-25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i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为流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i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间隔内的传递包数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高速流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=&gt;prob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小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=&gt;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更难拿到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token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；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(2)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低速流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=&gt;prob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大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=&gt;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更容易拿到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token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控制令牌桶的大小不超过队列长度，吸收突发流，避免丢包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25" y="3228975"/>
            <a:ext cx="5655310" cy="33299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620" y="3228340"/>
            <a:ext cx="4633595" cy="33305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Data Engine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Buffer Manager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6105" y="894080"/>
            <a:ext cx="11043920" cy="146685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组件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：缓冲区管理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(</a:t>
            </a:r>
            <a:r>
              <a:rPr lang="zh-CN" altLang="en-US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为每条流暂存最近几个连续包信息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)</a:t>
            </a:r>
            <a:endParaRPr lang="en-US" altLang="zh-CN" sz="2000" b="1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buff_idx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指出需要存取的流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ID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索引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从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SRAM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寄存器中取出对应特征信息打包到数据包中传递给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Model Engine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进行推理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2486660"/>
            <a:ext cx="5183505" cy="41687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Model Engine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Vector I/O Processor &amp; DNN Inference Module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6105" y="894080"/>
            <a:ext cx="11043920" cy="146685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组件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Vector I/O Processor 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提取流标识符、关联特征向量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)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异步输入输出队列，输出队列和流标识符队列不空即可组包发送推理结果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组件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DNN Inference Module</a:t>
            </a:r>
            <a:endParaRPr lang="en-US" altLang="zh-CN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使用硬件友好的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INT8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量化保存模型权重参数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2982595"/>
            <a:ext cx="7510780" cy="37960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Implementation 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50230" y="3152775"/>
            <a:ext cx="6671310" cy="31502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①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Tofino2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芯片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: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20 stages, 25MB</a:t>
            </a:r>
            <a:r>
              <a:rPr lang="en-US" altLang="zh-CN" sz="2000" i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SRAM, 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1.28MB TCAM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②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Xilinx ZU19EG FPGA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芯片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: 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80Mb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片上内存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, 1143450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个逻辑处理单元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③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控制面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CPU: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管理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Tofino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芯片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,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包括配置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/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监控等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④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端口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FPGA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面板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: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10G/25G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外部链路通信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⑤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BMC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模块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: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硬件状态监控、远程状态管理等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05" y="1121410"/>
            <a:ext cx="5099685" cy="55619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675630" y="1370330"/>
            <a:ext cx="5681980" cy="146685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342900" indent="-34290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单板上融合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FPGA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Tofino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芯片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使用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22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层高性能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PCB(printed circuit board)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使用反钻技术保证芯片之间的连接速率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Implementation 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6105" y="894080"/>
            <a:ext cx="11043920" cy="146685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实验环境配置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Tofino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可编程交换机芯片：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SDE version 9.8.0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FPGA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芯片：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Vivado and Vitis HLS for FPGA (C++ =&gt; Verilog)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各模块工作量统计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00150" lvl="2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Data Engine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1500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P4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代码实现三个核心组件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00150" lvl="2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Model Engine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1000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HLS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代码实现两个核心组件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00150" lvl="2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模型训练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/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测试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/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量化等：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1500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Python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代码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+ 1000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C++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代码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00150" lvl="2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控制面概率表计算：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300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Python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代码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00150" lvl="2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性能仿真测试代码：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800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Python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代码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120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模型训练与量化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使用包长度、包到达时间间隔作为模型推理时间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使用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Vitis-AI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将浮点权重量化到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INT8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位宽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Evaluation 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6105" y="894080"/>
            <a:ext cx="11043920" cy="584581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对比方案设计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FENIX-CNN-FLOW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3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层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CNN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卷积层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+ 2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层全连接层，多数投票角出最终分类结果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FENIX-RNN-FLOW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1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个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RNN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神经元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+ 1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层输出层，使用最终的隐藏状态分类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FlowLens </a:t>
            </a:r>
            <a:r>
              <a:rPr lang="en-US" altLang="zh-CN" sz="200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(</a:t>
            </a:r>
            <a:r>
              <a:rPr lang="en-US" altLang="zh-CN" sz="2000" i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NDSS’22</a:t>
            </a:r>
            <a:r>
              <a:rPr lang="en-US" altLang="zh-CN" sz="200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)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：控制面实现推理逻辑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FENIX-CNN-PKT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：结构一样，使用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CNN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按照包级别统计分类准确率情况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FENIX-RNN-PKT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：结构一样，使用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RNN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按照包级别统计分类准确率情况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NetBeacon </a:t>
            </a:r>
            <a:r>
              <a:rPr lang="en-US" altLang="zh-CN" sz="200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(</a:t>
            </a:r>
            <a:r>
              <a:rPr lang="en-US" altLang="zh-CN" sz="2000" i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Security’23</a:t>
            </a:r>
            <a:r>
              <a:rPr lang="en-US" altLang="zh-CN" sz="200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)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：多阶段模型，每个阶段模型参数为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3 trees, depth 7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Leo </a:t>
            </a:r>
            <a:r>
              <a:rPr lang="en-US" altLang="zh-CN" sz="2000" i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(NSDI’24)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22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层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,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最大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1024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叶子结点决策树做分类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BoS </a:t>
            </a:r>
            <a:r>
              <a:rPr lang="en-US" altLang="zh-CN" sz="2000" i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(NSDI’24)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9bits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隐藏状态，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8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个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GRU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单元，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6bits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嵌入做二值化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GRU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网络推理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N3IC </a:t>
            </a:r>
            <a:r>
              <a:rPr lang="en-US" altLang="zh-CN" sz="2000" i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(NSDI’22)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：智能网卡上实现二进制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MLP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120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数据集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加密数据流：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ISCXVPN2016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；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(2)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恶意流量检测：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USTC-TFC2016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lvl="0"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Evaluation 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390" y="1519555"/>
            <a:ext cx="8549005" cy="529971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6105" y="894080"/>
            <a:ext cx="11043920" cy="5791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真实数据集条件下的分类准确率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/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召回率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lvl="1"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Evaluation 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6105" y="894080"/>
            <a:ext cx="3204845" cy="5791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交换机资源使用率情况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lvl="1"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05" y="1701165"/>
            <a:ext cx="5123815" cy="2406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729095" y="887095"/>
            <a:ext cx="2828290" cy="5791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FPGA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资源使用情况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lvl="1"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120" y="1474470"/>
            <a:ext cx="3946525" cy="26352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585" y="4749800"/>
            <a:ext cx="4994275" cy="209423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597275" y="4126230"/>
            <a:ext cx="3204845" cy="5791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传输和推理时延情况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lvl="1"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高速流量生成</a:t>
            </a:r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多类型攻击</a:t>
            </a:r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6105" y="894080"/>
            <a:ext cx="11044555" cy="494601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2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扫段攻击：</a:t>
            </a:r>
            <a:r>
              <a:rPr lang="zh-CN" altLang="en-US"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持续性扫描一段连续地址空间</a:t>
            </a:r>
            <a:endParaRPr lang="zh-CN" altLang="en-US" sz="22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扫描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IP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地址段：扫描指定网段内的所有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IP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地址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(2)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扫描端口区间：扫描一个制定的端口区间范围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(3)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扫描特征值区间：规律性的发送不同包大小、间隔、序列号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200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2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脉冲攻击：</a:t>
            </a:r>
            <a:r>
              <a:rPr lang="zh-CN" altLang="en-US"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一定时间范围内呈现周期性</a:t>
            </a: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/</a:t>
            </a:r>
            <a:r>
              <a:rPr lang="zh-CN" altLang="en-US"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突发性攻击</a:t>
            </a:r>
            <a:endParaRPr lang="zh-CN" altLang="en-US" sz="22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spcBef>
                <a:spcPts val="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瞬时速率高；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(2)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持续时间短，呈现周期性的突发；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(3)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流量统计方差大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200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2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多矢量攻击：</a:t>
            </a:r>
            <a:r>
              <a:rPr lang="zh-CN" altLang="en-US"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交替使用不同攻击形态</a:t>
            </a:r>
            <a:endParaRPr lang="zh-CN" altLang="en-US" sz="22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spcBef>
                <a:spcPts val="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多攻击类型交替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/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混合攻击，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Scan + Flood + Pulse + ......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spcBef>
                <a:spcPts val="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(2)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每种攻击类型控制流数、持续时间以及间隔时间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高速流量生成</a:t>
            </a:r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时变特性</a:t>
            </a:r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6105" y="894080"/>
            <a:ext cx="11044555" cy="56146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速率时变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突发时变：包计数，每发出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m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个包后，停发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n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个包，控制突发速率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(2) On-Off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时变：记录时间戳，指定时间范围内的模版包不更新状态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(3)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高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/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低速流时变：运行时动态修改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Meter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的速率参数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100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包间隔时变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控制状态包发送时间间隔，使用时间戳粗控包发送时间间隔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100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包大小分布时变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不同时段使用不同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size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分布，发送不同大小的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ACK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DATA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模版包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100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流级结构时变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spcBef>
                <a:spcPts val="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控制不同时段发送的流数量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spcBef>
                <a:spcPts val="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(2)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控制长流和短流比例（需要额外的字段标识）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高速流量生成</a:t>
            </a:r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</a:t>
            </a:r>
            <a:r>
              <a:rPr lang="zh-CN" altLang="en-US" kern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时变特性</a:t>
            </a:r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6105" y="894080"/>
            <a:ext cx="11044555" cy="56146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攻击流量生成类型时变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不同时段执行不同的攻击流量生成任务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(2)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控制每个流量攻击任务的持续时间长短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高速流量生成</a:t>
            </a:r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</a:t>
            </a:r>
            <a:r>
              <a:rPr lang="en-US" altLang="zh-CN" kern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DDos</a:t>
            </a:r>
            <a:r>
              <a:rPr lang="zh-CN" altLang="en-US" kern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时变攻击</a:t>
            </a:r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6105" y="894080"/>
            <a:ext cx="11044555" cy="56146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扫段攻击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[1]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攻击流量在时间维度上不断切换攻击目标或攻击资源段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(1)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扫描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IP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地址段：扫描指定网段内的所有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IP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地址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(2)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扫描端口区间：扫描一个制定的端口区间范围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(3)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扫描系统资源段：扫描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CPU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、内存、缓存或队列等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资源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脉冲攻击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[2]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攻击流量在时间上呈现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“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开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—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关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或周期性爆发的脉冲形态</a:t>
            </a:r>
            <a:endParaRPr lang="en-US" altLang="zh-CN" sz="2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(1)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瞬时速率高，平均攻击率低，难以在时域中被识别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(2)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持续时间短，呈现周期性的突发，迅速耗尽资源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[3]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多矢量攻击</a:t>
            </a:r>
            <a:r>
              <a:rPr lang="en-US" altLang="zh-CN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[4]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攻击的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“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手段与特征空间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随时间发生变化或叠加，而不仅仅是流量规模的变化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spcBef>
                <a:spcPts val="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(1)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多攻击类型交替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混合攻击，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Scan + Flood + Pulse + ......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spcBef>
                <a:spcPts val="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(2)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每种攻击类型控制流数、持续时间以及间隔时间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50925" y="5573395"/>
            <a:ext cx="9953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[1]The crossfire attack.  IEEE symposium on security and privacy </a:t>
            </a:r>
            <a:r>
              <a:rPr lang="en-US" altLang="zh-CN">
                <a:sym typeface="+mn-ea"/>
              </a:rPr>
              <a:t>2013 </a:t>
            </a:r>
            <a:r>
              <a:rPr lang="en-US" altLang="zh-CN"/>
              <a:t>.</a:t>
            </a:r>
            <a:endParaRPr lang="en-US" altLang="zh-CN"/>
          </a:p>
          <a:p>
            <a:r>
              <a:rPr lang="en-US" altLang="zh-CN"/>
              <a:t>[2]On a new class of pulsing denial-of-service attacks and the defense. NDSS 2005.</a:t>
            </a:r>
            <a:endParaRPr lang="en-US" altLang="zh-CN"/>
          </a:p>
          <a:p>
            <a:r>
              <a:rPr lang="en-US" altLang="zh-CN"/>
              <a:t>[3]Filtering of shrew DDoS attacks in frequency domain. LCN 2005.</a:t>
            </a:r>
            <a:endParaRPr lang="en-US" altLang="zh-CN"/>
          </a:p>
          <a:p>
            <a:r>
              <a:rPr lang="en-US" altLang="zh-CN"/>
              <a:t>[4]A novel feature-based framework enabling multi-type DDoS attacks detection. World Wide Web 2023.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3235" y="286385"/>
            <a:ext cx="11259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高速流量生成</a:t>
            </a:r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时变特性</a:t>
            </a:r>
            <a:r>
              <a:rPr lang="en-US" altLang="zh-CN" sz="2800" b="1" kern="0" dirty="0">
                <a:solidFill>
                  <a:srgbClr val="8E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6105" y="869950"/>
            <a:ext cx="11044555" cy="8890"/>
          </a:xfrm>
          <a:prstGeom prst="line">
            <a:avLst/>
          </a:prstGeom>
          <a:ln w="50800"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  <a:tileRect/>
            </a:gra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105" y="898525"/>
            <a:ext cx="11044555" cy="15062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0080" y="163195"/>
            <a:ext cx="2176780" cy="6051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6105" y="842645"/>
            <a:ext cx="11044555" cy="56146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速率时变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突发时变：包计数，每发出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m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个包后，停发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n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个包，控制突发速率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(2) On-Off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时变：记录时间戳，指定时间范围内的模版包不更新状态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(3)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高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/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低速流时变：运行时动态修改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Meter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的速率参数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100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包间隔和大小分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布时变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(1)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控制状态包发送时间间隔，使用时间戳粗控包发送时间间隔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(2)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不同时段使用不同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size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分布，发送不同大小的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ACK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DATA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模版包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100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流级结构时变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spcBef>
                <a:spcPts val="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控制不同时段发送的流数量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以及长流和短流比例（需要额外的字段标识）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285750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zh-CN" altLang="en-US" sz="2000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攻击流量生成类型时变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(1)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不同时段执行不同的攻击流量生成任务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buClr>
                <a:srgbClr val="C65F10"/>
              </a:buClr>
              <a:buFont typeface="Wingdings" panose="05000000000000000000" charset="0"/>
              <a:buChar char="p"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(2)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控制每个流量攻击任务的持续时间长短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algn="l" fontAlgn="auto">
              <a:lnSpc>
                <a:spcPct val="150000"/>
              </a:lnSpc>
              <a:spcBef>
                <a:spcPts val="0"/>
              </a:spcBef>
              <a:buClr>
                <a:srgbClr val="C65F10"/>
              </a:buClr>
              <a:buFont typeface="Wingdings" panose="05000000000000000000" charset="0"/>
              <a:buChar char="p"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resource_record_key" val="{&quot;10&quot;:[8624842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4821</Words>
  <Application>WPS 演示</Application>
  <PresentationFormat>宽屏</PresentationFormat>
  <Paragraphs>237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Times New Roman</vt:lpstr>
      <vt:lpstr>NimbusRomNo9L-Regu</vt:lpstr>
      <vt:lpstr>Segoe Print</vt:lpstr>
      <vt:lpstr>微软雅黑</vt:lpstr>
      <vt:lpstr>Wingdings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astrelee</dc:creator>
  <cp:lastModifiedBy>WPS_1601806858</cp:lastModifiedBy>
  <cp:revision>4108</cp:revision>
  <dcterms:created xsi:type="dcterms:W3CDTF">2023-08-09T12:44:00Z</dcterms:created>
  <dcterms:modified xsi:type="dcterms:W3CDTF">2025-12-23T13:45:02Z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2052-12.1.0.24034</vt:lpwstr>
  </property>
</Properties>
</file>